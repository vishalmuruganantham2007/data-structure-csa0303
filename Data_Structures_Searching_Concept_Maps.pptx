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00" y="531499"/>
            <a:ext cx="5187950" cy="1064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3761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STRUCTURES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SEARCHING</a:t>
            </a:r>
            <a:endParaRPr sz="1800">
              <a:latin typeface="Arial"/>
              <a:cs typeface="Arial"/>
            </a:endParaRPr>
          </a:p>
          <a:p>
            <a:pPr algn="ctr" marL="1237615">
              <a:lnSpc>
                <a:spcPct val="100000"/>
              </a:lnSpc>
              <a:spcBef>
                <a:spcPts val="1240"/>
              </a:spcBef>
            </a:pPr>
            <a:r>
              <a:rPr dirty="0" sz="1100">
                <a:latin typeface="Arial MT"/>
                <a:cs typeface="Arial MT"/>
              </a:rPr>
              <a:t>Concept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Maps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Short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Explanations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1.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Smart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City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Traffic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Management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Data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Structures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3999" y="1699899"/>
            <a:ext cx="1512570" cy="3429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700"/>
              </a:spcBef>
            </a:pPr>
            <a:r>
              <a:rPr dirty="0" sz="950" b="1">
                <a:latin typeface="Arial"/>
                <a:cs typeface="Arial"/>
              </a:rPr>
              <a:t>DATA </a:t>
            </a:r>
            <a:r>
              <a:rPr dirty="0" sz="950" spc="-10" b="1">
                <a:latin typeface="Arial"/>
                <a:cs typeface="Arial"/>
              </a:rPr>
              <a:t>STRUCTURES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3693" y="21062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3999" y="2398399"/>
            <a:ext cx="1512570" cy="508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318135" marR="154305" indent="-156210">
              <a:lnSpc>
                <a:spcPct val="113999"/>
              </a:lnSpc>
              <a:spcBef>
                <a:spcPts val="540"/>
              </a:spcBef>
            </a:pPr>
            <a:r>
              <a:rPr dirty="0" sz="950" b="1">
                <a:latin typeface="Arial"/>
                <a:cs typeface="Arial"/>
              </a:rPr>
              <a:t>Primitive Data </a:t>
            </a:r>
            <a:r>
              <a:rPr dirty="0" sz="950" spc="-10" b="1">
                <a:latin typeface="Arial"/>
                <a:cs typeface="Arial"/>
              </a:rPr>
              <a:t>Types </a:t>
            </a:r>
            <a:r>
              <a:rPr dirty="0" sz="950" b="1">
                <a:latin typeface="Arial"/>
                <a:cs typeface="Arial"/>
              </a:rPr>
              <a:t>int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•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float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• </a:t>
            </a:r>
            <a:r>
              <a:rPr dirty="0" sz="950" spc="-20" b="1">
                <a:latin typeface="Arial"/>
                <a:cs typeface="Arial"/>
              </a:rPr>
              <a:t>char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3693" y="29698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23999" y="3261999"/>
            <a:ext cx="1512570" cy="508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454025" marR="208279" indent="-238125">
              <a:lnSpc>
                <a:spcPct val="113999"/>
              </a:lnSpc>
              <a:spcBef>
                <a:spcPts val="540"/>
              </a:spcBef>
            </a:pPr>
            <a:r>
              <a:rPr dirty="0" sz="950" b="1">
                <a:latin typeface="Arial"/>
                <a:cs typeface="Arial"/>
              </a:rPr>
              <a:t>Non-Primitive </a:t>
            </a:r>
            <a:r>
              <a:rPr dirty="0" sz="950" spc="-20" b="1">
                <a:latin typeface="Arial"/>
                <a:cs typeface="Arial"/>
              </a:rPr>
              <a:t>Data </a:t>
            </a:r>
            <a:r>
              <a:rPr dirty="0" sz="950" spc="-10" b="1">
                <a:latin typeface="Arial"/>
                <a:cs typeface="Arial"/>
              </a:rPr>
              <a:t>Structures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13693" y="38334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3649" y="4119249"/>
          <a:ext cx="6209030" cy="219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065"/>
                <a:gridCol w="3060065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76300">
                        <a:lnSpc>
                          <a:spcPct val="10000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LINEAR</a:t>
                      </a:r>
                      <a:r>
                        <a:rPr dirty="0" sz="9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latin typeface="Arial"/>
                          <a:cs typeface="Arial"/>
                        </a:rPr>
                        <a:t>STRUCTURES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117600" marR="1109980" indent="-635">
                        <a:lnSpc>
                          <a:spcPct val="113999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950" spc="-10" b="1">
                          <a:latin typeface="Arial"/>
                          <a:cs typeface="Arial"/>
                        </a:rPr>
                        <a:t>LINEAR STRUCTURES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marL="76200" marR="2399030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dirty="0" sz="950" spc="-10">
                          <a:latin typeface="Arial MT"/>
                          <a:cs typeface="Arial MT"/>
                        </a:rPr>
                        <a:t>Array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Linked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List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Stack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2640330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dirty="0" sz="950" spc="-20">
                          <a:latin typeface="Arial MT"/>
                          <a:cs typeface="Arial MT"/>
                        </a:rPr>
                        <a:t>Tree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Graph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76200" marR="1929764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Traffic </a:t>
                      </a:r>
                      <a:r>
                        <a:rPr dirty="0" sz="950" spc="-20" b="1">
                          <a:latin typeface="Arial"/>
                          <a:cs typeface="Arial"/>
                        </a:rPr>
                        <a:t>use:</a:t>
                      </a:r>
                      <a:r>
                        <a:rPr dirty="0" sz="950" spc="5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Vehicle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records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Traffic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counts</a:t>
                      </a:r>
                      <a:r>
                        <a:rPr dirty="0" sz="9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Event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management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2110740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Traffic </a:t>
                      </a:r>
                      <a:r>
                        <a:rPr dirty="0" sz="950" spc="-20" b="1">
                          <a:latin typeface="Arial"/>
                          <a:cs typeface="Arial"/>
                        </a:rPr>
                        <a:t>use: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Signal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hierarchy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Road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networks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Junction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relationships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493999" y="4214499"/>
            <a:ext cx="1512570" cy="342900"/>
          </a:xfrm>
          <a:custGeom>
            <a:avLst/>
            <a:gdLst/>
            <a:ahLst/>
            <a:cxnLst/>
            <a:rect l="l" t="t" r="r" b="b"/>
            <a:pathLst>
              <a:path w="1512570" h="342900">
                <a:moveTo>
                  <a:pt x="0" y="0"/>
                </a:moveTo>
                <a:lnTo>
                  <a:pt x="1511999" y="0"/>
                </a:lnTo>
              </a:path>
              <a:path w="1512570" h="342900">
                <a:moveTo>
                  <a:pt x="0" y="342900"/>
                </a:moveTo>
                <a:lnTo>
                  <a:pt x="1511999" y="342900"/>
                </a:lnTo>
              </a:path>
              <a:path w="1512570" h="342900">
                <a:moveTo>
                  <a:pt x="0" y="342900"/>
                </a:moveTo>
                <a:lnTo>
                  <a:pt x="0" y="0"/>
                </a:lnTo>
              </a:path>
              <a:path w="1512570" h="342900">
                <a:moveTo>
                  <a:pt x="1511999" y="3429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54000" y="4214499"/>
            <a:ext cx="1512570" cy="508000"/>
          </a:xfrm>
          <a:custGeom>
            <a:avLst/>
            <a:gdLst/>
            <a:ahLst/>
            <a:cxnLst/>
            <a:rect l="l" t="t" r="r" b="b"/>
            <a:pathLst>
              <a:path w="1512570" h="508000">
                <a:moveTo>
                  <a:pt x="0" y="0"/>
                </a:moveTo>
                <a:lnTo>
                  <a:pt x="1511999" y="0"/>
                </a:lnTo>
              </a:path>
              <a:path w="1512570" h="508000">
                <a:moveTo>
                  <a:pt x="0" y="508000"/>
                </a:moveTo>
                <a:lnTo>
                  <a:pt x="1511999" y="508000"/>
                </a:lnTo>
              </a:path>
              <a:path w="1512570" h="508000">
                <a:moveTo>
                  <a:pt x="0" y="508000"/>
                </a:moveTo>
                <a:lnTo>
                  <a:pt x="0" y="0"/>
                </a:lnTo>
              </a:path>
              <a:path w="1512570" h="508000">
                <a:moveTo>
                  <a:pt x="1511999" y="5080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7500" y="6457319"/>
            <a:ext cx="6229350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Explanation: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>
                <a:latin typeface="Arial MT"/>
                <a:cs typeface="Arial MT"/>
              </a:rPr>
              <a:t>Primitive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structures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store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simple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values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such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as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speed,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vehicle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count,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signal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timing. Non-</a:t>
            </a:r>
            <a:r>
              <a:rPr dirty="0" sz="1050">
                <a:latin typeface="Arial MT"/>
                <a:cs typeface="Arial MT"/>
              </a:rPr>
              <a:t>primitive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structures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organize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collections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of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related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data.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Linear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structures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arrange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elements </a:t>
            </a:r>
            <a:r>
              <a:rPr dirty="0" sz="1050">
                <a:latin typeface="Arial MT"/>
                <a:cs typeface="Arial MT"/>
              </a:rPr>
              <a:t>sequentially,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while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non-</a:t>
            </a:r>
            <a:r>
              <a:rPr dirty="0" sz="1050">
                <a:latin typeface="Arial MT"/>
                <a:cs typeface="Arial MT"/>
              </a:rPr>
              <a:t>linear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structures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represent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hierarchical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network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relationships.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Arrays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linked </a:t>
            </a:r>
            <a:r>
              <a:rPr dirty="0" sz="1050">
                <a:latin typeface="Arial MT"/>
                <a:cs typeface="Arial MT"/>
              </a:rPr>
              <a:t>lists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useful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sequential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records;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trees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graphs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suitable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hierarchical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control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road </a:t>
            </a:r>
            <a:r>
              <a:rPr dirty="0" sz="1050">
                <a:latin typeface="Arial MT"/>
                <a:cs typeface="Arial MT"/>
              </a:rPr>
              <a:t>networks.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Selecting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the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right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structure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improves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storage,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searching,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updating,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processing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efficiency.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00" y="531499"/>
            <a:ext cx="33845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2. Searching Algorithms – Concept </a:t>
            </a:r>
            <a:r>
              <a:rPr dirty="0" sz="1400" spc="-25" b="1">
                <a:latin typeface="Arial"/>
                <a:cs typeface="Arial"/>
              </a:rPr>
              <a:t>Map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3999" y="874399"/>
            <a:ext cx="1512570" cy="508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390525" marR="382905" indent="3175">
              <a:lnSpc>
                <a:spcPct val="113999"/>
              </a:lnSpc>
              <a:spcBef>
                <a:spcPts val="540"/>
              </a:spcBef>
            </a:pPr>
            <a:r>
              <a:rPr dirty="0" sz="950" spc="-10" b="1">
                <a:latin typeface="Arial"/>
                <a:cs typeface="Arial"/>
              </a:rPr>
              <a:t>SEARCHING ALGORITHM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3693" y="14458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3649" y="1731649"/>
          <a:ext cx="6209030" cy="154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065"/>
                <a:gridCol w="3060065"/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LINEAR</a:t>
                      </a:r>
                      <a:r>
                        <a:rPr dirty="0" sz="9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latin typeface="Arial"/>
                          <a:cs typeface="Arial"/>
                        </a:rPr>
                        <a:t>SEARCH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BINARY</a:t>
                      </a:r>
                      <a:r>
                        <a:rPr dirty="0" sz="9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10" b="1">
                          <a:latin typeface="Arial"/>
                          <a:cs typeface="Arial"/>
                        </a:rPr>
                        <a:t>SEARCH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Checks records one by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one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Divides the sorted data into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halves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Time: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O(n)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Time: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O(log 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n)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Works with sorted or unsorted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data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Requires sorted </a:t>
                      </a:r>
                      <a:r>
                        <a:rPr dirty="0" sz="950" spc="-20">
                          <a:latin typeface="Arial MT"/>
                          <a:cs typeface="Arial MT"/>
                        </a:rPr>
                        <a:t>data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493999" y="1826899"/>
            <a:ext cx="1512570" cy="342900"/>
          </a:xfrm>
          <a:custGeom>
            <a:avLst/>
            <a:gdLst/>
            <a:ahLst/>
            <a:cxnLst/>
            <a:rect l="l" t="t" r="r" b="b"/>
            <a:pathLst>
              <a:path w="1512570" h="342900">
                <a:moveTo>
                  <a:pt x="0" y="0"/>
                </a:moveTo>
                <a:lnTo>
                  <a:pt x="1511999" y="0"/>
                </a:lnTo>
              </a:path>
              <a:path w="1512570" h="342900">
                <a:moveTo>
                  <a:pt x="0" y="342900"/>
                </a:moveTo>
                <a:lnTo>
                  <a:pt x="1511999" y="342900"/>
                </a:lnTo>
              </a:path>
              <a:path w="1512570" h="342900">
                <a:moveTo>
                  <a:pt x="0" y="342900"/>
                </a:moveTo>
                <a:lnTo>
                  <a:pt x="0" y="0"/>
                </a:lnTo>
              </a:path>
              <a:path w="1512570" h="342900">
                <a:moveTo>
                  <a:pt x="1511999" y="3429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54000" y="1826899"/>
            <a:ext cx="1512570" cy="342900"/>
          </a:xfrm>
          <a:custGeom>
            <a:avLst/>
            <a:gdLst/>
            <a:ahLst/>
            <a:cxnLst/>
            <a:rect l="l" t="t" r="r" b="b"/>
            <a:pathLst>
              <a:path w="1512570" h="342900">
                <a:moveTo>
                  <a:pt x="0" y="0"/>
                </a:moveTo>
                <a:lnTo>
                  <a:pt x="1511999" y="0"/>
                </a:lnTo>
              </a:path>
              <a:path w="1512570" h="342900">
                <a:moveTo>
                  <a:pt x="0" y="342900"/>
                </a:moveTo>
                <a:lnTo>
                  <a:pt x="1511999" y="342900"/>
                </a:lnTo>
              </a:path>
              <a:path w="1512570" h="342900">
                <a:moveTo>
                  <a:pt x="0" y="342900"/>
                </a:moveTo>
                <a:lnTo>
                  <a:pt x="0" y="0"/>
                </a:lnTo>
              </a:path>
              <a:path w="1512570" h="342900">
                <a:moveTo>
                  <a:pt x="1511999" y="3429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13693" y="33508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23999" y="3642999"/>
            <a:ext cx="1512570" cy="508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950" b="1">
                <a:latin typeface="Arial"/>
                <a:cs typeface="Arial"/>
              </a:rPr>
              <a:t>TIME COMPLEXITY </a:t>
            </a:r>
            <a:r>
              <a:rPr dirty="0" sz="950" spc="-50">
                <a:latin typeface="Symbol"/>
                <a:cs typeface="Symbol"/>
              </a:rPr>
              <a:t></a:t>
            </a:r>
            <a:endParaRPr sz="950">
              <a:latin typeface="Symbol"/>
              <a:cs typeface="Symbol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dirty="0" sz="950" spc="-10" b="1">
                <a:latin typeface="Arial"/>
                <a:cs typeface="Arial"/>
              </a:rPr>
              <a:t>EFFICIENCY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7500" y="4285619"/>
            <a:ext cx="6295390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135">
              <a:lnSpc>
                <a:spcPct val="119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Comparison: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 MT"/>
                <a:cs typeface="Arial MT"/>
              </a:rPr>
              <a:t>Linear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may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examine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every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record.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Binary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eliminates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half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of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the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remaining </a:t>
            </a:r>
            <a:r>
              <a:rPr dirty="0" sz="1050">
                <a:latin typeface="Arial MT"/>
                <a:cs typeface="Arial MT"/>
              </a:rPr>
              <a:t>records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at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each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step.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1000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sorted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records,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binary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needs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about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log</a:t>
            </a:r>
            <a:r>
              <a:rPr dirty="0" sz="1050">
                <a:latin typeface="MS Gothic"/>
                <a:cs typeface="MS Gothic"/>
              </a:rPr>
              <a:t>■</a:t>
            </a:r>
            <a:r>
              <a:rPr dirty="0" sz="1050">
                <a:latin typeface="Arial MT"/>
                <a:cs typeface="Arial MT"/>
              </a:rPr>
              <a:t>(1000)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Symbol"/>
                <a:cs typeface="Symbol"/>
              </a:rPr>
              <a:t></a:t>
            </a:r>
            <a:r>
              <a:rPr dirty="0" sz="1050" spc="5">
                <a:latin typeface="Times New Roman"/>
                <a:cs typeface="Times New Roman"/>
              </a:rPr>
              <a:t> </a:t>
            </a:r>
            <a:r>
              <a:rPr dirty="0" sz="1050">
                <a:latin typeface="Arial MT"/>
                <a:cs typeface="Arial MT"/>
              </a:rPr>
              <a:t>10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comparisons, </a:t>
            </a:r>
            <a:r>
              <a:rPr dirty="0" sz="1050">
                <a:latin typeface="Arial MT"/>
                <a:cs typeface="Arial MT"/>
              </a:rPr>
              <a:t>while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linear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can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require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up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1000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comparisons.</a:t>
            </a:r>
            <a:endParaRPr sz="1050">
              <a:latin typeface="Arial MT"/>
              <a:cs typeface="Arial MT"/>
            </a:endParaRPr>
          </a:p>
          <a:p>
            <a:pPr marL="12700" marR="5080">
              <a:lnSpc>
                <a:spcPct val="119000"/>
              </a:lnSpc>
              <a:spcBef>
                <a:spcPts val="600"/>
              </a:spcBef>
            </a:pPr>
            <a:r>
              <a:rPr dirty="0" sz="1050" b="1">
                <a:latin typeface="Arial"/>
                <a:cs typeface="Arial"/>
              </a:rPr>
              <a:t>Conclusion:</a:t>
            </a:r>
            <a:r>
              <a:rPr dirty="0" sz="1050" spc="-25" b="1">
                <a:latin typeface="Arial"/>
                <a:cs typeface="Arial"/>
              </a:rPr>
              <a:t> </a:t>
            </a:r>
            <a:r>
              <a:rPr dirty="0" sz="1050">
                <a:latin typeface="Arial MT"/>
                <a:cs typeface="Arial MT"/>
              </a:rPr>
              <a:t>Binary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more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efficient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large,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sorted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datasets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because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its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time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complexity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O(log </a:t>
            </a:r>
            <a:r>
              <a:rPr dirty="0" sz="1050">
                <a:latin typeface="Arial MT"/>
                <a:cs typeface="Arial MT"/>
              </a:rPr>
              <a:t>n),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compared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with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O(n)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linear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search.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Linear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remains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useful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when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data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is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small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unsorted.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7500" y="531499"/>
            <a:ext cx="395795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3. Library Management System – Concept </a:t>
            </a:r>
            <a:r>
              <a:rPr dirty="0" sz="1400" spc="-25" b="1">
                <a:latin typeface="Arial"/>
                <a:cs typeface="Arial"/>
              </a:rPr>
              <a:t>Map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3999" y="874399"/>
            <a:ext cx="1512570" cy="6731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950" spc="-20" b="1">
                <a:latin typeface="Arial"/>
                <a:cs typeface="Arial"/>
              </a:rPr>
              <a:t>DATA</a:t>
            </a:r>
            <a:endParaRPr sz="95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dirty="0" sz="950" b="1">
                <a:latin typeface="Arial"/>
                <a:cs typeface="Arial"/>
              </a:rPr>
              <a:t>Title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•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Author •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Book </a:t>
            </a:r>
            <a:r>
              <a:rPr dirty="0" sz="950" spc="-25" b="1">
                <a:latin typeface="Arial"/>
                <a:cs typeface="Arial"/>
              </a:rPr>
              <a:t>ID</a:t>
            </a:r>
            <a:endParaRPr sz="950">
              <a:latin typeface="Arial"/>
              <a:cs typeface="Arial"/>
            </a:endParaRPr>
          </a:p>
          <a:p>
            <a:pPr marL="474980" indent="-75565">
              <a:lnSpc>
                <a:spcPct val="100000"/>
              </a:lnSpc>
              <a:spcBef>
                <a:spcPts val="160"/>
              </a:spcBef>
              <a:buChar char="•"/>
              <a:tabLst>
                <a:tab pos="474980" algn="l"/>
              </a:tabLst>
            </a:pPr>
            <a:r>
              <a:rPr dirty="0" sz="950" spc="-10" b="1">
                <a:latin typeface="Arial"/>
                <a:cs typeface="Arial"/>
              </a:rPr>
              <a:t>Availability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3693" y="16109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3999" y="1903099"/>
            <a:ext cx="1512570" cy="3429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700"/>
              </a:spcBef>
            </a:pPr>
            <a:r>
              <a:rPr dirty="0" sz="950" b="1">
                <a:latin typeface="Arial"/>
                <a:cs typeface="Arial"/>
              </a:rPr>
              <a:t>DATA </a:t>
            </a:r>
            <a:r>
              <a:rPr dirty="0" sz="950" spc="-10" b="1">
                <a:latin typeface="Arial"/>
                <a:cs typeface="Arial"/>
              </a:rPr>
              <a:t>STRUCTURE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3693" y="23094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11850" y="2595249"/>
          <a:ext cx="6212840" cy="102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0889"/>
                <a:gridCol w="2040889"/>
                <a:gridCol w="2040889"/>
              </a:tblGrid>
              <a:tr h="520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50" spc="-10" b="1">
                          <a:latin typeface="Arial"/>
                          <a:cs typeface="Arial"/>
                        </a:rPr>
                        <a:t>ARRAY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48335">
                        <a:lnSpc>
                          <a:spcPct val="100000"/>
                        </a:lnSpc>
                      </a:pPr>
                      <a:r>
                        <a:rPr dirty="0" sz="950" b="1">
                          <a:latin typeface="Arial"/>
                          <a:cs typeface="Arial"/>
                        </a:rPr>
                        <a:t>LINKED</a:t>
                      </a:r>
                      <a:r>
                        <a:rPr dirty="0" sz="95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50" spc="-20" b="1">
                          <a:latin typeface="Arial"/>
                          <a:cs typeface="Arial"/>
                        </a:rPr>
                        <a:t>LIST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50" spc="-20" b="1">
                          <a:latin typeface="Arial"/>
                          <a:cs typeface="Arial"/>
                        </a:rPr>
                        <a:t>TREE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Fast index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access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Good for fixed-size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records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742950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Easy</a:t>
                      </a:r>
                      <a:r>
                        <a:rPr dirty="0" sz="95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insertion/deletion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Dynamic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records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702945">
                        <a:lnSpc>
                          <a:spcPct val="113999"/>
                        </a:lnSpc>
                        <a:spcBef>
                          <a:spcPts val="540"/>
                        </a:spcBef>
                      </a:pPr>
                      <a:r>
                        <a:rPr dirty="0" sz="950">
                          <a:latin typeface="Arial MT"/>
                          <a:cs typeface="Arial MT"/>
                        </a:rPr>
                        <a:t>Organized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search </a:t>
                      </a:r>
                      <a:r>
                        <a:rPr dirty="0" sz="950">
                          <a:latin typeface="Arial MT"/>
                          <a:cs typeface="Arial MT"/>
                        </a:rPr>
                        <a:t>Useful for large </a:t>
                      </a:r>
                      <a:r>
                        <a:rPr dirty="0" sz="950" spc="-10">
                          <a:latin typeface="Arial MT"/>
                          <a:cs typeface="Arial MT"/>
                        </a:rPr>
                        <a:t>records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982800" y="2690499"/>
            <a:ext cx="1512570" cy="342900"/>
          </a:xfrm>
          <a:custGeom>
            <a:avLst/>
            <a:gdLst/>
            <a:ahLst/>
            <a:cxnLst/>
            <a:rect l="l" t="t" r="r" b="b"/>
            <a:pathLst>
              <a:path w="1512570" h="342900">
                <a:moveTo>
                  <a:pt x="0" y="0"/>
                </a:moveTo>
                <a:lnTo>
                  <a:pt x="1511999" y="0"/>
                </a:lnTo>
              </a:path>
              <a:path w="1512570" h="342900">
                <a:moveTo>
                  <a:pt x="0" y="342900"/>
                </a:moveTo>
                <a:lnTo>
                  <a:pt x="1511999" y="342900"/>
                </a:lnTo>
              </a:path>
              <a:path w="1512570" h="342900">
                <a:moveTo>
                  <a:pt x="0" y="342900"/>
                </a:moveTo>
                <a:lnTo>
                  <a:pt x="0" y="0"/>
                </a:lnTo>
              </a:path>
              <a:path w="1512570" h="342900">
                <a:moveTo>
                  <a:pt x="1511999" y="3429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24000" y="2690499"/>
            <a:ext cx="1512570" cy="342900"/>
          </a:xfrm>
          <a:custGeom>
            <a:avLst/>
            <a:gdLst/>
            <a:ahLst/>
            <a:cxnLst/>
            <a:rect l="l" t="t" r="r" b="b"/>
            <a:pathLst>
              <a:path w="1512570" h="342900">
                <a:moveTo>
                  <a:pt x="0" y="0"/>
                </a:moveTo>
                <a:lnTo>
                  <a:pt x="1511999" y="0"/>
                </a:lnTo>
              </a:path>
              <a:path w="1512570" h="342900">
                <a:moveTo>
                  <a:pt x="0" y="342900"/>
                </a:moveTo>
                <a:lnTo>
                  <a:pt x="1511999" y="342900"/>
                </a:lnTo>
              </a:path>
              <a:path w="1512570" h="342900">
                <a:moveTo>
                  <a:pt x="0" y="342900"/>
                </a:moveTo>
                <a:lnTo>
                  <a:pt x="0" y="0"/>
                </a:lnTo>
              </a:path>
              <a:path w="1512570" h="342900">
                <a:moveTo>
                  <a:pt x="1511999" y="3429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65200" y="2690499"/>
            <a:ext cx="1512570" cy="342900"/>
          </a:xfrm>
          <a:custGeom>
            <a:avLst/>
            <a:gdLst/>
            <a:ahLst/>
            <a:cxnLst/>
            <a:rect l="l" t="t" r="r" b="b"/>
            <a:pathLst>
              <a:path w="1512570" h="342900">
                <a:moveTo>
                  <a:pt x="0" y="0"/>
                </a:moveTo>
                <a:lnTo>
                  <a:pt x="1511999" y="0"/>
                </a:lnTo>
              </a:path>
              <a:path w="1512570" h="342900">
                <a:moveTo>
                  <a:pt x="0" y="342900"/>
                </a:moveTo>
                <a:lnTo>
                  <a:pt x="1511999" y="342900"/>
                </a:lnTo>
              </a:path>
              <a:path w="1512570" h="342900">
                <a:moveTo>
                  <a:pt x="0" y="342900"/>
                </a:moveTo>
                <a:lnTo>
                  <a:pt x="0" y="0"/>
                </a:lnTo>
              </a:path>
              <a:path w="1512570" h="342900">
                <a:moveTo>
                  <a:pt x="1511999" y="342900"/>
                </a:moveTo>
                <a:lnTo>
                  <a:pt x="15119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13693" y="36937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23999" y="3985899"/>
            <a:ext cx="1512570" cy="3429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700"/>
              </a:spcBef>
            </a:pPr>
            <a:r>
              <a:rPr dirty="0" sz="950" spc="-10" b="1">
                <a:latin typeface="Arial"/>
                <a:cs typeface="Arial"/>
              </a:rPr>
              <a:t>ORGANIZATION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3693" y="43922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23999" y="4684399"/>
            <a:ext cx="1512570" cy="6731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950" b="1">
                <a:latin typeface="Arial"/>
                <a:cs typeface="Arial"/>
              </a:rPr>
              <a:t>ACCESS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METHODS</a:t>
            </a:r>
            <a:endParaRPr sz="950">
              <a:latin typeface="Arial"/>
              <a:cs typeface="Arial"/>
            </a:endParaRPr>
          </a:p>
          <a:p>
            <a:pPr algn="ctr" marL="107314" marR="100330">
              <a:lnSpc>
                <a:spcPct val="113999"/>
              </a:lnSpc>
            </a:pPr>
            <a:r>
              <a:rPr dirty="0" sz="950" b="1">
                <a:latin typeface="Arial"/>
                <a:cs typeface="Arial"/>
              </a:rPr>
              <a:t>Sequential Search </a:t>
            </a:r>
            <a:r>
              <a:rPr dirty="0" sz="950" spc="-50" b="1">
                <a:latin typeface="Arial"/>
                <a:cs typeface="Arial"/>
              </a:rPr>
              <a:t>• </a:t>
            </a:r>
            <a:r>
              <a:rPr dirty="0" sz="950" b="1">
                <a:latin typeface="Arial"/>
                <a:cs typeface="Arial"/>
              </a:rPr>
              <a:t>Indexing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• Tree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Search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13693" y="5420999"/>
            <a:ext cx="1327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Symbol"/>
                <a:cs typeface="Symbol"/>
              </a:rPr>
              <a:t>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23999" y="5713099"/>
            <a:ext cx="1512570" cy="8382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algn="ctr" marL="123189" marR="115570">
              <a:lnSpc>
                <a:spcPct val="113999"/>
              </a:lnSpc>
              <a:spcBef>
                <a:spcPts val="540"/>
              </a:spcBef>
            </a:pPr>
            <a:r>
              <a:rPr dirty="0" sz="950" b="1">
                <a:latin typeface="Arial"/>
                <a:cs typeface="Arial"/>
              </a:rPr>
              <a:t>EFFICIENCY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>
                <a:latin typeface="Symbol"/>
                <a:cs typeface="Symbol"/>
              </a:rPr>
              <a:t></a:t>
            </a:r>
            <a:r>
              <a:rPr dirty="0" sz="950" spc="-5">
                <a:latin typeface="Times New Roman"/>
                <a:cs typeface="Times New Roman"/>
              </a:rPr>
              <a:t> </a:t>
            </a:r>
            <a:r>
              <a:rPr dirty="0" sz="950" spc="-10" b="1">
                <a:latin typeface="Arial"/>
                <a:cs typeface="Arial"/>
              </a:rPr>
              <a:t>Faster </a:t>
            </a:r>
            <a:r>
              <a:rPr dirty="0" sz="950" b="1">
                <a:latin typeface="Arial"/>
                <a:cs typeface="Arial"/>
              </a:rPr>
              <a:t>Retrieval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•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Better </a:t>
            </a:r>
            <a:r>
              <a:rPr dirty="0" sz="950" b="1">
                <a:latin typeface="Arial"/>
                <a:cs typeface="Arial"/>
              </a:rPr>
              <a:t>Updates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•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Better Performance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7500" y="6711319"/>
            <a:ext cx="642620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dirty="0" sz="1050" b="1">
                <a:latin typeface="Arial"/>
                <a:cs typeface="Arial"/>
              </a:rPr>
              <a:t>Explanation:</a:t>
            </a:r>
            <a:r>
              <a:rPr dirty="0" sz="1050" spc="-20" b="1">
                <a:latin typeface="Arial"/>
                <a:cs typeface="Arial"/>
              </a:rPr>
              <a:t> </a:t>
            </a:r>
            <a:r>
              <a:rPr dirty="0" sz="1050">
                <a:latin typeface="Arial MT"/>
                <a:cs typeface="Arial MT"/>
              </a:rPr>
              <a:t>A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library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system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can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store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book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records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using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arrays,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linked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lists,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trees.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Arrays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provide</a:t>
            </a:r>
            <a:r>
              <a:rPr dirty="0" sz="1050" spc="50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direct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index-</a:t>
            </a:r>
            <a:r>
              <a:rPr dirty="0" sz="1050">
                <a:latin typeface="Arial MT"/>
                <a:cs typeface="Arial MT"/>
              </a:rPr>
              <a:t>based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access,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linked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lists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support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dynamic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insertion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deletion,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trees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can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provide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efficient </a:t>
            </a:r>
            <a:r>
              <a:rPr dirty="0" sz="1050">
                <a:latin typeface="Arial MT"/>
                <a:cs typeface="Arial MT"/>
              </a:rPr>
              <a:t>searching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when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records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are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organized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by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Book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ID,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title,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author.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Proper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organization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reduces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unnecessary </a:t>
            </a:r>
            <a:r>
              <a:rPr dirty="0" sz="1050">
                <a:latin typeface="Arial MT"/>
                <a:cs typeface="Arial MT"/>
              </a:rPr>
              <a:t>comparisons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improves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search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speed,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update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operations,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memory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use,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overall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system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performance.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(anonymous)</dc:creator>
  <dc:subject>(unspecified)</dc:subject>
  <dc:title>(anonymous)</dc:title>
  <dcterms:created xsi:type="dcterms:W3CDTF">2026-08-12T13:16:32Z</dcterms:created>
  <dcterms:modified xsi:type="dcterms:W3CDTF">2026-08-12T13:16:32Z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2026-08-12T00:00:00Z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2026-08-12T00:00:00Z</vt:filetime>
  </property>
  <property fmtid="{D5CDD505-2E9C-101B-9397-08002B2CF9AE}" pid="6" name="Producer">
    <vt:lpwstr>ReportLab PDF Library - (opensource)</vt:lpwstr>
  </property>
</Properties>
</file>